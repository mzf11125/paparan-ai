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ASEAN AI Policy Adoption Index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35</c:v>
                </c:pt>
                <c:pt idx="2">
                  <c:v>48</c:v>
                </c:pt>
                <c:pt idx="3">
                  <c:v>62</c:v>
                </c:pt>
                <c:pt idx="4">
                  <c:v>79</c:v>
                </c:pt>
                <c:pt idx="5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0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P1 Trade</c:v>
                  </c:pt>
                  <c:pt idx="1">
                    <c:v>AC2 Security</c:v>
                  </c:pt>
                  <c:pt idx="2">
                    <c:v>AC5 Industry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</c:v>
                </c:pt>
                <c:pt idx="1">
                  <c:v>91</c:v>
                </c:pt>
                <c:pt idx="2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4CFD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02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bubble3D val="0"/>
            <c:spPr>
              <a:solidFill>
                <a:srgbClr val="7B5FFF"/>
              </a:solidFill>
              <a:effectLst/>
            </c:spPr>
          </c:dPt>
          <c:dPt>
            <c:idx val="2"/>
            <c:bubble3D val="0"/>
            <c:spPr>
              <a:solidFill>
                <a:srgbClr val="00E5A0"/>
              </a:solidFill>
              <a:effectLst/>
            </c:spPr>
          </c:dPt>
          <c:dPt>
            <c:idx val="3"/>
            <c:bubble3D val="0"/>
            <c:spPr>
              <a:solidFill>
                <a:srgbClr val="FFB54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809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809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809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809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Engineering &amp; AI</c:v>
                </c:pt>
                <c:pt idx="1">
                  <c:v>ASEAN Expansion</c:v>
                </c:pt>
                <c:pt idx="2">
                  <c:v>Gov Relations</c:v>
                </c:pt>
                <c:pt idx="3">
                  <c:v>Ops &amp; Legal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00">
              <a:solidFill>
                <a:srgbClr val="C4CFD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0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731520"/>
            <a:ext cx="2926080" cy="2926080"/>
          </a:xfrm>
          <a:prstGeom prst="ellipse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280160"/>
            <a:ext cx="1828800" cy="18288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-274320"/>
            <a:ext cx="1828800" cy="1828800"/>
          </a:xfrm>
          <a:prstGeom prst="ellipse">
            <a:avLst/>
          </a:prstGeom>
          <a:solidFill>
            <a:srgbClr val="7B5FFF">
              <a:alpha val="7000"/>
            </a:srgbClr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PAPARAN</a:t>
            </a:r>
            <a:pPr indent="0" marL="0">
              <a:buNone/>
            </a:pPr>
            <a:r>
              <a:rPr lang="en-US" sz="110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457200"/>
            <a:ext cx="1234440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475488"/>
            <a:ext cx="11247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DECK  ·  2025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749808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5760" y="1353312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ASEAN Governments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5760" y="20299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briefs that turn fragmented OSINT into decision-ready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2311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— built for policymakers, diplomats &amp; ministries.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1143000" cy="777240"/>
          </a:xfrm>
          <a:prstGeom prst="roundRect">
            <a:avLst>
              <a:gd name="adj" fmla="val 9412"/>
            </a:avLst>
          </a:prstGeom>
          <a:solidFill>
            <a:srgbClr val="0D1028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0779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" y="34107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Countries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600200" y="2834640"/>
            <a:ext cx="1143000" cy="777240"/>
          </a:xfrm>
          <a:prstGeom prst="roundRect">
            <a:avLst>
              <a:gd name="adj" fmla="val 9412"/>
            </a:avLst>
          </a:prstGeom>
          <a:solidFill>
            <a:srgbClr val="0D1028"/>
          </a:solidFill>
          <a:ln w="6350">
            <a:solidFill>
              <a:srgbClr val="7B5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0200" y="290779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34107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834640" y="2834640"/>
            <a:ext cx="1143000" cy="777240"/>
          </a:xfrm>
          <a:prstGeom prst="roundRect">
            <a:avLst>
              <a:gd name="adj" fmla="val 9412"/>
            </a:avLst>
          </a:prstGeom>
          <a:solidFill>
            <a:srgbClr val="0D1028"/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290779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834640" y="34107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069080" y="2834640"/>
            <a:ext cx="1143000" cy="777240"/>
          </a:xfrm>
          <a:prstGeom prst="roundRect">
            <a:avLst>
              <a:gd name="adj" fmla="val 9412"/>
            </a:avLst>
          </a:prstGeom>
          <a:solidFill>
            <a:srgbClr val="0D1028"/>
          </a:solidFill>
          <a:ln w="6350">
            <a:solidFill>
              <a:srgbClr val="FFB5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9080" y="290779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$3B+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69080" y="34107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(USD)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242048" y="1280160"/>
            <a:ext cx="512064" cy="365760"/>
          </a:xfrm>
          <a:prstGeom prst="ellipse">
            <a:avLst/>
          </a:prstGeom>
          <a:solidFill>
            <a:srgbClr val="1216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135331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8073536" y="1760220"/>
            <a:ext cx="512064" cy="365760"/>
          </a:xfrm>
          <a:prstGeom prst="ellipse">
            <a:avLst/>
          </a:prstGeom>
          <a:solidFill>
            <a:srgbClr val="121635"/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73536" y="183337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Intel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8073536" y="2720340"/>
            <a:ext cx="512064" cy="365760"/>
          </a:xfrm>
          <a:prstGeom prst="ellipse">
            <a:avLst/>
          </a:prstGeom>
          <a:solidFill>
            <a:srgbClr val="12163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73536" y="279349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7242048" y="3200400"/>
            <a:ext cx="512064" cy="365760"/>
          </a:xfrm>
          <a:prstGeom prst="ellipse">
            <a:avLst/>
          </a:prstGeom>
          <a:solidFill>
            <a:srgbClr val="121635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42048" y="327355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6410560" y="2720340"/>
            <a:ext cx="512064" cy="365760"/>
          </a:xfrm>
          <a:prstGeom prst="ellipse">
            <a:avLst/>
          </a:prstGeom>
          <a:solidFill>
            <a:srgbClr val="121635"/>
          </a:solidFill>
          <a:ln w="12700">
            <a:solidFill>
              <a:srgbClr val="FF5F8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0560" y="279349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6410560" y="1760220"/>
            <a:ext cx="512064" cy="365760"/>
          </a:xfrm>
          <a:prstGeom prst="ellipse">
            <a:avLst/>
          </a:prstGeom>
          <a:solidFill>
            <a:srgbClr val="1216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0560" y="183337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Synthesizer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7150608" y="2167128"/>
            <a:ext cx="694944" cy="512064"/>
          </a:xfrm>
          <a:prstGeom prst="ellipse">
            <a:avLst/>
          </a:prstGeom>
          <a:solidFill>
            <a:srgbClr val="12163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50608" y="2258568"/>
            <a:ext cx="69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3657600" cy="3657600"/>
          </a:xfrm>
          <a:prstGeom prst="ellipse">
            <a:avLst/>
          </a:prstGeom>
          <a:solidFill>
            <a:srgbClr val="7B5FFF">
              <a:alpha val="5000"/>
            </a:srgbClr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056132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82880"/>
            <a:ext cx="9464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governments are flying blind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data-rich world.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intelligence gap is widening — and AI is the only solution at scale.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0D1028"/>
          </a:solidFill>
          <a:ln w="762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4708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5488" y="2487168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GDP exposed to policy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misjudgment annually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178308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0D1028"/>
          </a:solidFill>
          <a:ln w="7620">
            <a:solidFill>
              <a:srgbClr val="7B5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84708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10128" y="2487168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 generated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ASEAN per day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35040" y="178308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0D1028"/>
          </a:solidFill>
          <a:ln w="7620">
            <a:solidFill>
              <a:srgbClr val="FFB5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84708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72hrs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44768" y="2487168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 from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→ policy response</a:t>
            </a:r>
            <a:endParaRPr lang="en-US" sz="8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65760" y="3310128"/>
          <a:ext cx="841248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365760" y="4754880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121635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"Decision latency is the #1 risk in geopolitical intelligence — and it's 100% solvable with AI."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FF5F87"/>
          </a:solidFill>
          <a:ln w="12700">
            <a:solidFill>
              <a:srgbClr val="FF5F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2743200" cy="2743200"/>
          </a:xfrm>
          <a:prstGeom prst="ellipse">
            <a:avLst/>
          </a:prstGeom>
          <a:solidFill>
            <a:srgbClr val="FF5F87">
              <a:alpha val="5000"/>
            </a:srgbClr>
          </a:solidFill>
          <a:ln w="12700">
            <a:solidFill>
              <a:srgbClr val="FF5F8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818388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FF5F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82880"/>
            <a:ext cx="7086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Policymakers drown in noise,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critical signals are missed.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2697480" cy="777240"/>
          </a:xfrm>
          <a:prstGeom prst="roundRect">
            <a:avLst>
              <a:gd name="adj" fmla="val 8235"/>
            </a:avLst>
          </a:prstGeom>
          <a:solidFill>
            <a:srgbClr val="0D1028"/>
          </a:solidFill>
          <a:ln w="3810">
            <a:solidFill>
              <a:srgbClr val="FF5F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Fragmented Sources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70992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filings, satellite, conflict — siloed and unconnected.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154680" y="1389888"/>
            <a:ext cx="2697480" cy="777240"/>
          </a:xfrm>
          <a:prstGeom prst="roundRect">
            <a:avLst>
              <a:gd name="adj" fmla="val 8235"/>
            </a:avLst>
          </a:prstGeom>
          <a:solidFill>
            <a:srgbClr val="0D1028"/>
          </a:solidFill>
          <a:ln w="3810">
            <a:solidFill>
              <a:srgbClr val="FF5F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46304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Slow Turnaround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46120" y="170992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briefs take 3–5 days. Decisions made wrong by then.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43600" y="1389888"/>
            <a:ext cx="2697480" cy="777240"/>
          </a:xfrm>
          <a:prstGeom prst="roundRect">
            <a:avLst>
              <a:gd name="adj" fmla="val 8235"/>
            </a:avLst>
          </a:prstGeom>
          <a:solidFill>
            <a:srgbClr val="0D1028"/>
          </a:solidFill>
          <a:ln w="3810">
            <a:solidFill>
              <a:srgbClr val="FF5F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46304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No ASEAN Context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035040" y="170992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tools ignore RPJMN, RDTII, SDI, K/L frameworks.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2258568"/>
            <a:ext cx="2697480" cy="777240"/>
          </a:xfrm>
          <a:prstGeom prst="roundRect">
            <a:avLst>
              <a:gd name="adj" fmla="val 8235"/>
            </a:avLst>
          </a:prstGeom>
          <a:solidFill>
            <a:srgbClr val="0D1028"/>
          </a:solidFill>
          <a:ln w="3810">
            <a:solidFill>
              <a:srgbClr val="FF5F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317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Link Rot &amp; Source Loss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257860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pages deleted overnight. Intelligence gone.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154680" y="2258568"/>
            <a:ext cx="2697480" cy="777240"/>
          </a:xfrm>
          <a:prstGeom prst="roundRect">
            <a:avLst>
              <a:gd name="adj" fmla="val 8235"/>
            </a:avLst>
          </a:prstGeom>
          <a:solidFill>
            <a:srgbClr val="0D1028"/>
          </a:solidFill>
          <a:ln w="3810">
            <a:solidFill>
              <a:srgbClr val="FF5F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3317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 Alignment Scoring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46120" y="257860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 not mapped to national development goals.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943600" y="2258568"/>
            <a:ext cx="2697480" cy="777240"/>
          </a:xfrm>
          <a:prstGeom prst="roundRect">
            <a:avLst>
              <a:gd name="adj" fmla="val 8235"/>
            </a:avLst>
          </a:prstGeom>
          <a:solidFill>
            <a:srgbClr val="0D1028"/>
          </a:solidFill>
          <a:ln w="3810">
            <a:solidFill>
              <a:srgbClr val="FF5F8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23317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Zero Cross-K/L Checks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035040" y="257860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Ministries contradict each other. Nobody catches it.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5760" y="4736592"/>
            <a:ext cx="8412480" cy="292608"/>
          </a:xfrm>
          <a:prstGeom prst="roundRect">
            <a:avLst>
              <a:gd name="adj" fmla="val 15625"/>
            </a:avLst>
          </a:prstGeom>
          <a:solidFill>
            <a:srgbClr val="1A0D14"/>
          </a:solidFill>
          <a:ln w="6350">
            <a:solidFill>
              <a:srgbClr val="FF5F8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Wrong decisions, wasted budgets, and diplomatic crises — all preventable.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877824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182880"/>
            <a:ext cx="768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brief. Every signal. Zero delay.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5097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specialized AI agents that aggregate, cross-reference, and synthesize OSINT into structured policy briefs in minutes.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1572768" cy="960120"/>
          </a:xfrm>
          <a:prstGeom prst="roundRect">
            <a:avLst>
              <a:gd name="adj" fmla="val 6667"/>
            </a:avLst>
          </a:prstGeom>
          <a:solidFill>
            <a:srgbClr val="0D1028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53312"/>
            <a:ext cx="1572768" cy="20116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371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20624" y="159105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+ Wayback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auto-archive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947672" y="1783080"/>
            <a:ext cx="54864" cy="9144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47672" y="1719072"/>
            <a:ext cx="54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11680" y="1353312"/>
            <a:ext cx="1572768" cy="960120"/>
          </a:xfrm>
          <a:prstGeom prst="roundRect">
            <a:avLst>
              <a:gd name="adj" fmla="val 6667"/>
            </a:avLst>
          </a:prstGeom>
          <a:solidFill>
            <a:srgbClr val="0D1028"/>
          </a:solidFill>
          <a:ln w="10160">
            <a:solidFill>
              <a:srgbClr val="7B5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1353312"/>
            <a:ext cx="1572768" cy="201168"/>
          </a:xfrm>
          <a:prstGeom prst="rect">
            <a:avLst/>
          </a:prstGeom>
          <a:solidFill>
            <a:srgbClr val="7B5FFF">
              <a:alpha val="20000"/>
            </a:srgbClr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66544" y="1371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Intel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066544" y="159105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+ Spatial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Conflict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593592" y="1783080"/>
            <a:ext cx="54864" cy="9144"/>
          </a:xfrm>
          <a:prstGeom prst="rect">
            <a:avLst/>
          </a:prstGeom>
          <a:solidFill>
            <a:srgbClr val="7B5FFF">
              <a:alpha val="60000"/>
            </a:srgbClr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93592" y="1719072"/>
            <a:ext cx="54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0" y="1353312"/>
            <a:ext cx="1572768" cy="960120"/>
          </a:xfrm>
          <a:prstGeom prst="roundRect">
            <a:avLst>
              <a:gd name="adj" fmla="val 6667"/>
            </a:avLst>
          </a:prstGeom>
          <a:solidFill>
            <a:srgbClr val="0D1028"/>
          </a:solidFill>
          <a:ln w="10160">
            <a:solidFill>
              <a:srgbClr val="FFB5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1353312"/>
            <a:ext cx="1572768" cy="201168"/>
          </a:xfrm>
          <a:prstGeom prst="rect">
            <a:avLst/>
          </a:prstGeom>
          <a:solidFill>
            <a:srgbClr val="FFB547">
              <a:alpha val="20000"/>
            </a:srgbClr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1371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712464" y="159105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actors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index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239512" y="1783080"/>
            <a:ext cx="54864" cy="9144"/>
          </a:xfrm>
          <a:prstGeom prst="rect">
            <a:avLst/>
          </a:prstGeom>
          <a:solidFill>
            <a:srgbClr val="FFB547">
              <a:alpha val="60000"/>
            </a:srgbClr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9512" y="1719072"/>
            <a:ext cx="54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303520" y="1353312"/>
            <a:ext cx="1572768" cy="960120"/>
          </a:xfrm>
          <a:prstGeom prst="roundRect">
            <a:avLst>
              <a:gd name="adj" fmla="val 6667"/>
            </a:avLst>
          </a:prstGeom>
          <a:solidFill>
            <a:srgbClr val="0D1028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0" y="1353312"/>
            <a:ext cx="1572768" cy="201168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58384" y="1371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58384" y="159105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Cache-first RAG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Tavily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885432" y="1783080"/>
            <a:ext cx="54864" cy="9144"/>
          </a:xfrm>
          <a:prstGeom prst="rect">
            <a:avLst/>
          </a:prstGeom>
          <a:solidFill>
            <a:srgbClr val="00E5A0">
              <a:alpha val="6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85432" y="1719072"/>
            <a:ext cx="54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49440" y="1353312"/>
            <a:ext cx="1572768" cy="960120"/>
          </a:xfrm>
          <a:prstGeom prst="roundRect">
            <a:avLst>
              <a:gd name="adj" fmla="val 6667"/>
            </a:avLst>
          </a:prstGeom>
          <a:solidFill>
            <a:srgbClr val="0D1028"/>
          </a:solidFill>
          <a:ln w="10160">
            <a:solidFill>
              <a:srgbClr val="FF5F8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9440" y="1353312"/>
            <a:ext cx="1572768" cy="201168"/>
          </a:xfrm>
          <a:prstGeom prst="rect">
            <a:avLst/>
          </a:prstGeom>
          <a:solidFill>
            <a:srgbClr val="FF5F87">
              <a:alpha val="20000"/>
            </a:srgbClr>
          </a:solidFill>
          <a:ln w="12700">
            <a:solidFill>
              <a:srgbClr val="FF5F8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04304" y="1371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RPJMN Scorer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004304" y="159105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pillars +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RDTII 7-pillar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65760" y="2423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→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65760" y="2651760"/>
            <a:ext cx="1664208" cy="749808"/>
          </a:xfrm>
          <a:prstGeom prst="roundRect">
            <a:avLst>
              <a:gd name="adj" fmla="val 8537"/>
            </a:avLst>
          </a:prstGeom>
          <a:solidFill>
            <a:srgbClr val="121635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27066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PDF Brief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20624" y="29809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Watermarked protocol memo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093976" y="2651760"/>
            <a:ext cx="1664208" cy="749808"/>
          </a:xfrm>
          <a:prstGeom prst="roundRect">
            <a:avLst>
              <a:gd name="adj" fmla="val 8537"/>
            </a:avLst>
          </a:prstGeom>
          <a:solidFill>
            <a:srgbClr val="121635"/>
          </a:solidFill>
          <a:ln w="6350">
            <a:solidFill>
              <a:srgbClr val="7B5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48840" y="27066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PPTX Deck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148840" y="29809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5-slide executive export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822192" y="2651760"/>
            <a:ext cx="1664208" cy="749808"/>
          </a:xfrm>
          <a:prstGeom prst="roundRect">
            <a:avLst>
              <a:gd name="adj" fmla="val 8537"/>
            </a:avLst>
          </a:prstGeom>
          <a:solidFill>
            <a:srgbClr val="121635"/>
          </a:solidFill>
          <a:ln w="6350">
            <a:solidFill>
              <a:srgbClr val="FFB5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77056" y="27066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🎖 Diplomat Brief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77056" y="29809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pts + distribution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550408" y="2651760"/>
            <a:ext cx="1664208" cy="749808"/>
          </a:xfrm>
          <a:prstGeom prst="roundRect">
            <a:avLst>
              <a:gd name="adj" fmla="val 8537"/>
            </a:avLst>
          </a:prstGeom>
          <a:solidFill>
            <a:srgbClr val="121635"/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05272" y="27066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RPJMN Score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05272" y="29809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8-pillar alignment 0.0–1.0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278624" y="2651760"/>
            <a:ext cx="1664208" cy="749808"/>
          </a:xfrm>
          <a:prstGeom prst="roundRect">
            <a:avLst>
              <a:gd name="adj" fmla="val 8537"/>
            </a:avLst>
          </a:prstGeom>
          <a:solidFill>
            <a:srgbClr val="121635"/>
          </a:solidFill>
          <a:ln w="6350">
            <a:solidFill>
              <a:srgbClr val="FF5F8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33488" y="27066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SDI Compliance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333488" y="29809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Perpres 195/2024 extraction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65760" y="4736592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121635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auto-archived to the Wayback Machine  ·  Intelligence doesn't disappear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7B5FFF"/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640080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7B5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182880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those who lived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gap firsthand.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0D1028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517904"/>
            <a:ext cx="548640" cy="548640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00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39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90499" y="2395728"/>
            <a:ext cx="1175004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363" y="2414016"/>
            <a:ext cx="10652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+ Strategy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263347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Bappenas policy analyst. 8 years mapping Indonesia's RPJMN execution gaps. Built ASEAN intelligence tools for three ministries.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487168" y="141732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0D1028"/>
          </a:solidFill>
          <a:ln w="6350">
            <a:solidFill>
              <a:srgbClr val="7B5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8688" y="1517904"/>
            <a:ext cx="548640" cy="548640"/>
          </a:xfrm>
          <a:prstGeom prst="ellipse">
            <a:avLst/>
          </a:prstGeom>
          <a:solidFill>
            <a:srgbClr val="7B5FFF">
              <a:alpha val="20000"/>
            </a:srgbClr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1600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78608" y="2139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940710" y="2395728"/>
            <a:ext cx="1115568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7B5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5574" y="2414016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Engineering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578608" y="263347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engineer. Led multi-agent LLM systems at regional fintech. LangGraph contributor. Ex-Gojek AI platform team.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608576" y="141732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0D1028"/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0096" y="1517904"/>
            <a:ext cx="548640" cy="548640"/>
          </a:xfrm>
          <a:prstGeom prst="ellipse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0096" y="1600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0016" y="2139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OSINT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75708" y="2395728"/>
            <a:ext cx="1293876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30572" y="2414016"/>
            <a:ext cx="11841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+ Data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00016" y="263347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Investigative journalist. Bellingcat-certified practitioner. 10 years tracking maritime, corporate &amp; conflict signals in SEA.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729984" y="141732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0D1028"/>
          </a:solidFill>
          <a:ln w="6350">
            <a:solidFill>
              <a:srgbClr val="FFB5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61504" y="1517904"/>
            <a:ext cx="548640" cy="548640"/>
          </a:xfrm>
          <a:prstGeom prst="ellipse">
            <a:avLst/>
          </a:prstGeom>
          <a:solidFill>
            <a:srgbClr val="FFB547">
              <a:alpha val="20000"/>
            </a:srgbClr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61504" y="1600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21424" y="2139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Growth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125919" y="2395728"/>
            <a:ext cx="1234440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FFB5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80783" y="2414016"/>
            <a:ext cx="11247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+ GTM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821424" y="263347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Ex-World Bank ASEAN desk. Relationships across 8 ASEAN ministries and 30+ diplomatic missions. MBA Wharton.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65760" y="4681728"/>
            <a:ext cx="8412480" cy="329184"/>
          </a:xfrm>
          <a:prstGeom prst="roundRect">
            <a:avLst>
              <a:gd name="adj" fmla="val 13889"/>
            </a:avLst>
          </a:prstGeom>
          <a:solidFill>
            <a:srgbClr val="121635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7183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ADVISORS:  </a:t>
            </a:r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ASEAN SecGen Office  ·  Ex-Palantir Government  ·  World Bank Digital Policy  ·  Bellingcat Network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818388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182880"/>
            <a:ext cx="7086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query to classified brief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under 3 minutes.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47472" y="142646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specialized AI agents via LangGraph for deep, cross-referenced analysis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7472" y="1865376"/>
            <a:ext cx="91440" cy="91440"/>
          </a:xfrm>
          <a:prstGeom prst="ellipse">
            <a:avLst/>
          </a:prstGeom>
          <a:solidFill>
            <a:srgbClr val="7B5FFF"/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288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Layer (Bellingcat-grade)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Satellite, vessel, corporate, fire hotspots, conflict events — all integrated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47472" y="2304288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677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RPJMN + RDTII Alignment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45059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brief scored against Indonesia's 8 Asta Cita pillars + ASEAN RDTII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47472" y="2743200"/>
            <a:ext cx="91440" cy="91440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066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 Exports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88950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PDF memos with protocol headers, talking points, read receipts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47472" y="3182112"/>
            <a:ext cx="91440" cy="91440"/>
          </a:xfrm>
          <a:prstGeom prst="ellipse">
            <a:avLst/>
          </a:prstGeom>
          <a:solidFill>
            <a:srgbClr val="FF5F87"/>
          </a:solidFill>
          <a:ln w="12700">
            <a:solidFill>
              <a:srgbClr val="FF5F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455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SDI Compliance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332841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LLM extraction per Perpres 195/2024. Cross-K/L conflict detection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73168" y="256032"/>
            <a:ext cx="4069080" cy="4645152"/>
          </a:xfrm>
          <a:prstGeom prst="roundRect">
            <a:avLst>
              <a:gd name="adj" fmla="val 2247"/>
            </a:avLst>
          </a:prstGeom>
          <a:solidFill>
            <a:srgbClr val="0D1028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73168" y="256032"/>
            <a:ext cx="4069080" cy="292608"/>
          </a:xfrm>
          <a:prstGeom prst="rect">
            <a:avLst/>
          </a:prstGeom>
          <a:solidFill>
            <a:srgbClr val="121635"/>
          </a:solidFill>
          <a:ln w="12700">
            <a:solidFill>
              <a:srgbClr val="1216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82896" y="329184"/>
            <a:ext cx="128016" cy="128016"/>
          </a:xfrm>
          <a:prstGeom prst="ellipse">
            <a:avLst/>
          </a:prstGeom>
          <a:solidFill>
            <a:srgbClr val="FF5F87"/>
          </a:solidFill>
          <a:ln w="12700">
            <a:solidFill>
              <a:srgbClr val="FF5F8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65776" y="329184"/>
            <a:ext cx="128016" cy="128016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48656" y="329184"/>
            <a:ext cx="128016" cy="12801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58968" y="310896"/>
            <a:ext cx="3200400" cy="182880"/>
          </a:xfrm>
          <a:prstGeom prst="roundRect">
            <a:avLst>
              <a:gd name="adj" fmla="val 20000"/>
            </a:avLst>
          </a:prstGeom>
          <a:solidFill>
            <a:srgbClr val="08091A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04688" y="32918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paparan.ai/brief/south-china-sea-2025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901184" y="603504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Brief: South China Sea Shipping Disruption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01184" y="850392"/>
            <a:ext cx="521208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FF5F8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8686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468112" y="850392"/>
            <a:ext cx="877824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7B5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22976" y="868680"/>
            <a:ext cx="768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AC2: Defence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199632" y="850392"/>
            <a:ext cx="996696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868680"/>
            <a:ext cx="886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Trade Fac.</a:t>
            </a:r>
            <a:endParaRPr lang="en-US" sz="7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4864608" y="1097280"/>
          <a:ext cx="3867912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Shape 34"/>
          <p:cNvSpPr/>
          <p:nvPr/>
        </p:nvSpPr>
        <p:spPr>
          <a:xfrm>
            <a:off x="4864608" y="2468880"/>
            <a:ext cx="3867912" cy="1444752"/>
          </a:xfrm>
          <a:prstGeom prst="roundRect">
            <a:avLst>
              <a:gd name="adj" fmla="val 3797"/>
            </a:avLst>
          </a:prstGeom>
          <a:solidFill>
            <a:srgbClr val="121635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56048" y="256032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4956048" y="274320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vessels observed 40nm from Palawan (Sentinel Hub).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4956048" y="292608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commercial vessels rerouted (+38hr delay). AIS confirmed.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4956048" y="310896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OpenCorporates flags PRC-linked entity in port concession.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956048" y="329184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4956048" y="347472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Emergency DFA consultation within 24hr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4956048" y="365760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Alert ASEAN maritime partners via ADMM+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640080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182880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flywheel + ASEAN lock-in =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compound moat.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389120" cy="621792"/>
          </a:xfrm>
          <a:prstGeom prst="roundRect">
            <a:avLst>
              <a:gd name="adj" fmla="val 8824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89888"/>
            <a:ext cx="36576" cy="6217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4475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OSINT Archive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scraped source auto-archived. Competitors cannot recreate history.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4389120" cy="621792"/>
          </a:xfrm>
          <a:prstGeom prst="roundRect">
            <a:avLst>
              <a:gd name="adj" fmla="val 8824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03120"/>
            <a:ext cx="36576" cy="621792"/>
          </a:xfrm>
          <a:prstGeom prst="rect">
            <a:avLst/>
          </a:prstGeom>
          <a:solidFill>
            <a:srgbClr val="7B5FFF"/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5798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Framework Embeddings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3774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RPJMN, RDTII, SDI, K/L — baked into vector DB. Years to replicate.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" y="2816352"/>
            <a:ext cx="4389120" cy="621792"/>
          </a:xfrm>
          <a:prstGeom prst="roundRect">
            <a:avLst>
              <a:gd name="adj" fmla="val 8824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16352"/>
            <a:ext cx="36576" cy="62179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712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Relationships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09067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Ministry-level contracts create switching costs and data exclusivity.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5760" y="3529584"/>
            <a:ext cx="4389120" cy="621792"/>
          </a:xfrm>
          <a:prstGeom prst="roundRect">
            <a:avLst>
              <a:gd name="adj" fmla="val 8824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529584"/>
            <a:ext cx="36576" cy="621792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844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Cross-K/L Intelligence Graph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8039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 across ministries — grows more valuable with each brief.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788152" y="1618488"/>
            <a:ext cx="2505456" cy="2432304"/>
          </a:xfrm>
          <a:prstGeom prst="ellipse">
            <a:avLst/>
          </a:prstGeom>
          <a:solidFill>
            <a:srgbClr val="08091A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3408" y="1600200"/>
            <a:ext cx="694944" cy="548640"/>
          </a:xfrm>
          <a:prstGeom prst="ellipse">
            <a:avLst/>
          </a:prstGeom>
          <a:solidFill>
            <a:srgbClr val="1216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93408" y="1655064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Ministries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7606536" y="2263627"/>
            <a:ext cx="694944" cy="548640"/>
          </a:xfrm>
          <a:prstGeom prst="ellipse">
            <a:avLst/>
          </a:prstGeom>
          <a:solidFill>
            <a:srgbClr val="121635"/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06536" y="2318491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OSINT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7257752" y="3337073"/>
            <a:ext cx="694944" cy="548640"/>
          </a:xfrm>
          <a:prstGeom prst="ellipse">
            <a:avLst/>
          </a:prstGeom>
          <a:solidFill>
            <a:srgbClr val="12163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57752" y="3391937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AI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6129064" y="3337073"/>
            <a:ext cx="694944" cy="548640"/>
          </a:xfrm>
          <a:prstGeom prst="ellipse">
            <a:avLst/>
          </a:prstGeom>
          <a:solidFill>
            <a:srgbClr val="121635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9064" y="3391937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5780280" y="2263627"/>
            <a:ext cx="694944" cy="548640"/>
          </a:xfrm>
          <a:prstGeom prst="ellipse">
            <a:avLst/>
          </a:prstGeom>
          <a:solidFill>
            <a:srgbClr val="121635"/>
          </a:solidFill>
          <a:ln w="12700">
            <a:solidFill>
              <a:srgbClr val="FF5F8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0280" y="2318491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6638544" y="2505456"/>
            <a:ext cx="804672" cy="658368"/>
          </a:xfrm>
          <a:prstGeom prst="ellipse">
            <a:avLst/>
          </a:prstGeom>
          <a:solidFill>
            <a:srgbClr val="121635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38544" y="2578608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 rot="2160000">
            <a:off x="7532005" y="31664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 rot="6480000">
            <a:off x="6726920" y="34280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 rot="10800000">
            <a:off x="6229350" y="2743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 rot="15120000">
            <a:off x="6726920" y="205835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 rot="19440000">
            <a:off x="7532005" y="231994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12748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FFB5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182880"/>
            <a:ext cx="13030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MILESTONES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fast. Validated faster.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ministries. Live.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1572768" cy="1097280"/>
          </a:xfrm>
          <a:prstGeom prst="roundRect">
            <a:avLst>
              <a:gd name="adj" fmla="val 5833"/>
            </a:avLst>
          </a:prstGeom>
          <a:solidFill>
            <a:srgbClr val="0D1028"/>
          </a:solidFill>
          <a:ln w="8890">
            <a:solidFill>
              <a:srgbClr val="00E5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89888"/>
            <a:ext cx="1572768" cy="201168"/>
          </a:xfrm>
          <a:prstGeom prst="rect">
            <a:avLst/>
          </a:prstGeom>
          <a:solidFill>
            <a:srgbClr val="00E5A0">
              <a:alpha val="2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4081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20624" y="16276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 Research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8912" y="1901952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deep interviews across 5 ASEAN ministries. Intelligence gap validated.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029968" y="1389888"/>
            <a:ext cx="1572768" cy="1097280"/>
          </a:xfrm>
          <a:prstGeom prst="roundRect">
            <a:avLst>
              <a:gd name="adj" fmla="val 5833"/>
            </a:avLst>
          </a:prstGeom>
          <a:solidFill>
            <a:srgbClr val="0D1028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968" y="1389888"/>
            <a:ext cx="1572768" cy="201168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84832" y="14081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2024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084832" y="16276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Built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103120" y="1901952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pipeline live. 9 agents operational. 39 tests passing.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694176" y="1389888"/>
            <a:ext cx="1572768" cy="1097280"/>
          </a:xfrm>
          <a:prstGeom prst="roundRect">
            <a:avLst>
              <a:gd name="adj" fmla="val 5833"/>
            </a:avLst>
          </a:prstGeom>
          <a:solidFill>
            <a:srgbClr val="0D1028"/>
          </a:solidFill>
          <a:ln w="8890">
            <a:solidFill>
              <a:srgbClr val="7B5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94176" y="1389888"/>
            <a:ext cx="1572768" cy="201168"/>
          </a:xfrm>
          <a:prstGeom prst="rect">
            <a:avLst/>
          </a:prstGeom>
          <a:solidFill>
            <a:srgbClr val="7B5FFF">
              <a:alpha val="25000"/>
            </a:srgbClr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4081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749040" y="16276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Launched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767328" y="1901952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Indonesian ministry pilots. Bappenas, Kemlu, Bank Indonesia onboarded.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358384" y="1389888"/>
            <a:ext cx="1572768" cy="1097280"/>
          </a:xfrm>
          <a:prstGeom prst="roundRect">
            <a:avLst>
              <a:gd name="adj" fmla="val 5833"/>
            </a:avLst>
          </a:prstGeom>
          <a:solidFill>
            <a:srgbClr val="0D1028"/>
          </a:solidFill>
          <a:ln w="8890">
            <a:solidFill>
              <a:srgbClr val="FFB5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8384" y="1389888"/>
            <a:ext cx="1572768" cy="201168"/>
          </a:xfrm>
          <a:prstGeom prst="rect">
            <a:avLst/>
          </a:prstGeom>
          <a:solidFill>
            <a:srgbClr val="FFB547">
              <a:alpha val="25000"/>
            </a:srgbClr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13248" y="14081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413248" y="16276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Expansion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31536" y="1901952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 + Singapore MoUs signed. RDTII integration complete.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022592" y="1389888"/>
            <a:ext cx="1572768" cy="1097280"/>
          </a:xfrm>
          <a:prstGeom prst="roundRect">
            <a:avLst>
              <a:gd name="adj" fmla="val 5833"/>
            </a:avLst>
          </a:prstGeom>
          <a:solidFill>
            <a:srgbClr val="0D1028"/>
          </a:solidFill>
          <a:ln w="8890">
            <a:solidFill>
              <a:srgbClr val="FF5F8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22592" y="1389888"/>
            <a:ext cx="1572768" cy="201168"/>
          </a:xfrm>
          <a:prstGeom prst="rect">
            <a:avLst/>
          </a:prstGeom>
          <a:solidFill>
            <a:srgbClr val="FF5F87">
              <a:alpha val="25000"/>
            </a:srgbClr>
          </a:solidFill>
          <a:ln w="12700">
            <a:solidFill>
              <a:srgbClr val="FF5F8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77456" y="14081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077456" y="16276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Seed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095744" y="1901952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$2.5M. Target: 10 ASEAN gov clients by EOY 2025.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65760" y="4315968"/>
            <a:ext cx="1572768" cy="658368"/>
          </a:xfrm>
          <a:prstGeom prst="roundRect">
            <a:avLst>
              <a:gd name="adj" fmla="val 8333"/>
            </a:avLst>
          </a:prstGeom>
          <a:solidFill>
            <a:srgbClr val="121635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3708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65760" y="473659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Pilots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029968" y="4315968"/>
            <a:ext cx="1572768" cy="658368"/>
          </a:xfrm>
          <a:prstGeom prst="roundRect">
            <a:avLst>
              <a:gd name="adj" fmla="val 8333"/>
            </a:avLst>
          </a:prstGeom>
          <a:solidFill>
            <a:srgbClr val="121635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29968" y="43708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029968" y="473659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(gov referral)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94176" y="4315968"/>
            <a:ext cx="1572768" cy="658368"/>
          </a:xfrm>
          <a:prstGeom prst="roundRect">
            <a:avLst>
              <a:gd name="adj" fmla="val 8333"/>
            </a:avLst>
          </a:prstGeom>
          <a:solidFill>
            <a:srgbClr val="121635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94176" y="43708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3694176" y="473659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358384" y="4315968"/>
            <a:ext cx="1572768" cy="658368"/>
          </a:xfrm>
          <a:prstGeom prst="roundRect">
            <a:avLst>
              <a:gd name="adj" fmla="val 8333"/>
            </a:avLst>
          </a:prstGeom>
          <a:solidFill>
            <a:srgbClr val="121635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58384" y="43708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358384" y="473659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 Signed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022592" y="4315968"/>
            <a:ext cx="1572768" cy="658368"/>
          </a:xfrm>
          <a:prstGeom prst="roundRect">
            <a:avLst>
              <a:gd name="adj" fmla="val 8333"/>
            </a:avLst>
          </a:prstGeom>
          <a:solidFill>
            <a:srgbClr val="121635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22592" y="43708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&lt;3min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022592" y="473659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Generation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234440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182880"/>
            <a:ext cx="11247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$3B+ market with no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ASEAN-native incumbent.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389120" cy="530352"/>
          </a:xfrm>
          <a:prstGeom prst="roundRect">
            <a:avLst>
              <a:gd name="adj" fmla="val 10345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447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  Indonesia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 K/L + 34 provinces. Bappenas, BI, OJK, Kemlu.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023360" y="15179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$820M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4389120" cy="530352"/>
          </a:xfrm>
          <a:prstGeom prst="roundRect">
            <a:avLst>
              <a:gd name="adj" fmla="val 10345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665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🇲🇾  Malaysia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EPU, MIDA, PEMANDU — policy intelligence vacuum.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023360" y="21396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633472"/>
            <a:ext cx="4389120" cy="530352"/>
          </a:xfrm>
          <a:prstGeom prst="roundRect">
            <a:avLst>
              <a:gd name="adj" fmla="val 10345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8833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🇸🇬  Singapore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9077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EDB, MTI — ASEAN policy coordinator hub.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023360" y="27614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$290M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255264"/>
            <a:ext cx="4389120" cy="530352"/>
          </a:xfrm>
          <a:prstGeom prst="roundRect">
            <a:avLst>
              <a:gd name="adj" fmla="val 10345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101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🇵🇭  Philippines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35295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NEDA, DBM — fragmented, English-first.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023360" y="33832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877056"/>
            <a:ext cx="4389120" cy="530352"/>
          </a:xfrm>
          <a:prstGeom prst="roundRect">
            <a:avLst>
              <a:gd name="adj" fmla="val 10345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319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🇻🇳  Vietnam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41513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MPI, SBV — fast-growing digital policy stack.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023360" y="40050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212080" y="1371600"/>
            <a:ext cx="3657600" cy="3108960"/>
          </a:xfrm>
          <a:prstGeom prst="ellipse">
            <a:avLst/>
          </a:prstGeom>
          <a:solidFill>
            <a:srgbClr val="0A1530">
              <a:alpha val="10000"/>
            </a:srgbClr>
          </a:solidFill>
          <a:ln w="6350">
            <a:solidFill>
              <a:srgbClr val="8B9C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1837944"/>
            <a:ext cx="2560320" cy="2176272"/>
          </a:xfrm>
          <a:prstGeom prst="ellipse">
            <a:avLst/>
          </a:prstGeom>
          <a:solidFill>
            <a:srgbClr val="0A1530">
              <a:alpha val="1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2304288"/>
            <a:ext cx="1463040" cy="1243584"/>
          </a:xfrm>
          <a:prstGeom prst="ellipse">
            <a:avLst/>
          </a:prstGeom>
          <a:solidFill>
            <a:srgbClr val="0A1530">
              <a:alpha val="2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15087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 TAM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0" y="20574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$3.2B SAM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0" y="27889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$480M SOM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7B5FFF"/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80644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7B5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182880"/>
            <a:ext cx="4709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tailwinds have never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like this before.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89888"/>
            <a:ext cx="36576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463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Capability Inflection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27248" y="1463040"/>
            <a:ext cx="699516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1481328"/>
            <a:ext cx="5897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12064" y="16642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Opus, GPT-4o crossed the threshold for complex multi-step policy reasoning. The AI is finally good enough.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2048256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048256"/>
            <a:ext cx="36576" cy="548640"/>
          </a:xfrm>
          <a:prstGeom prst="rect">
            <a:avLst/>
          </a:prstGeom>
          <a:solidFill>
            <a:srgbClr val="7B5FFF"/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121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Digital Agenda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27248" y="2121408"/>
            <a:ext cx="1115568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7B5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82112" y="2139696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Perpres 195/2024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12064" y="23225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Indonesia's Perpres 195/2024 mandates Satu Data Indonesia compliance. Paparan is the only product built for it.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5760" y="2706624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706624"/>
            <a:ext cx="36576" cy="5486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27797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Policy Urgency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27248" y="2779776"/>
            <a:ext cx="699516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2798064"/>
            <a:ext cx="5897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2023–2025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12064" y="29809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learned they can't slow down. Intelligence velocity is now a stated priority across ASEAN.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3364992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64992"/>
            <a:ext cx="36576" cy="548640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34381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Democratisation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27248" y="3438144"/>
            <a:ext cx="699516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FFB5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82112" y="3456432"/>
            <a:ext cx="5897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2022–2025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12064" y="36393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Satellite, AIS, corporate, and conflict data are freely accessible. The barrier is synthesis — not access.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65760" y="4023360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023360"/>
            <a:ext cx="36576" cy="548640"/>
          </a:xfrm>
          <a:prstGeom prst="rect">
            <a:avLst/>
          </a:prstGeom>
          <a:solidFill>
            <a:srgbClr val="FF5F87"/>
          </a:solidFill>
          <a:ln w="12700">
            <a:solidFill>
              <a:srgbClr val="FF5F8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40965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Geopolitical Pressure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27248" y="4096512"/>
            <a:ext cx="402336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FF5F8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82112" y="4114800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12064" y="4297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China Sea tensions, Myanmar crisis, US-China decoupling — ASEAN governments need intelligence now.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818388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FFB5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182880"/>
            <a:ext cx="7086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ASEAN-native policy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platform.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89888"/>
          <a:ext cx="42976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4CF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Paparan.ai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4CF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3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4CF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ASEAN-native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5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4CF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RPJMN/RDTII scoring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5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4CF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SDI compliance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5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4CF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Bellingcat OSINT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9C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4CF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9C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4CF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Diplomat exports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5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4CF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Auto-archiving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5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4CF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(SaaS)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9C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$2k/mo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9C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$50k+/yr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2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2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303520" y="1051560"/>
            <a:ext cx="9144" cy="374904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2926080"/>
            <a:ext cx="3977640" cy="9144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485546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Western / Generic       ASEAN-Native →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754880" y="1051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Manual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754880" y="45994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→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5631790" y="2061058"/>
            <a:ext cx="329184" cy="230429"/>
          </a:xfrm>
          <a:prstGeom prst="ellipse">
            <a:avLst/>
          </a:prstGeom>
          <a:solidFill>
            <a:srgbClr val="8B9CB8">
              <a:alpha val="12000"/>
            </a:srgbClr>
          </a:solidFill>
          <a:ln w="6350">
            <a:solidFill>
              <a:srgbClr val="8B9CB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31790" y="209397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Statt.com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5437022" y="2735885"/>
            <a:ext cx="329184" cy="230429"/>
          </a:xfrm>
          <a:prstGeom prst="ellipse">
            <a:avLst/>
          </a:prstGeom>
          <a:solidFill>
            <a:srgbClr val="8B9CB8">
              <a:alpha val="12000"/>
            </a:srgbClr>
          </a:solidFill>
          <a:ln w="6350">
            <a:solidFill>
              <a:srgbClr val="8B9CB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37022" y="2768803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Analytica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5761634" y="3185770"/>
            <a:ext cx="329184" cy="230429"/>
          </a:xfrm>
          <a:prstGeom prst="ellipse">
            <a:avLst/>
          </a:prstGeom>
          <a:solidFill>
            <a:srgbClr val="8B9CB8">
              <a:alpha val="12000"/>
            </a:srgbClr>
          </a:solidFill>
          <a:ln w="6350">
            <a:solidFill>
              <a:srgbClr val="8B9CB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1634" y="321868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Jane's / Janes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6183630" y="1686154"/>
            <a:ext cx="329184" cy="230429"/>
          </a:xfrm>
          <a:prstGeom prst="ellipse">
            <a:avLst/>
          </a:prstGeom>
          <a:solidFill>
            <a:srgbClr val="8B9CB8">
              <a:alpha val="12000"/>
            </a:srgbClr>
          </a:solidFill>
          <a:ln w="6350">
            <a:solidFill>
              <a:srgbClr val="8B9CB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83630" y="17190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Palantir Gov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5826557" y="3935578"/>
            <a:ext cx="329184" cy="230429"/>
          </a:xfrm>
          <a:prstGeom prst="ellipse">
            <a:avLst/>
          </a:prstGeom>
          <a:solidFill>
            <a:srgbClr val="8B9CB8">
              <a:alpha val="12000"/>
            </a:srgbClr>
          </a:solidFill>
          <a:ln w="6350">
            <a:solidFill>
              <a:srgbClr val="8B9CB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26557" y="396849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7812634" y="1322222"/>
            <a:ext cx="512064" cy="358445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12634" y="1373429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PAPARAN.AI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996696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182880"/>
            <a:ext cx="886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SaaS + usage-based.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ARR. Low churn.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633472" cy="2606040"/>
          </a:xfrm>
          <a:prstGeom prst="roundRect">
            <a:avLst>
              <a:gd name="adj" fmla="val 2807"/>
            </a:avLst>
          </a:prstGeom>
          <a:solidFill>
            <a:srgbClr val="0D1028"/>
          </a:solidFill>
          <a:ln w="5080">
            <a:solidFill>
              <a:srgbClr val="8B9C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3619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$499/mo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23113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ministry analyst. Up to 20 briefs/month.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93776" y="2670048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24328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briefs/mo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93776" y="2916936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71216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PPTX export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93776" y="3163824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18104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RPJMN scoring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93776" y="3410712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6499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2743200" cy="2770632"/>
          </a:xfrm>
          <a:prstGeom prst="roundRect">
            <a:avLst>
              <a:gd name="adj" fmla="val 3333"/>
            </a:avLst>
          </a:prstGeom>
          <a:solidFill>
            <a:srgbClr val="00D4FF">
              <a:alpha val="10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39312" y="1316736"/>
            <a:ext cx="818388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94176" y="1335024"/>
            <a:ext cx="7086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090672" y="1463040"/>
            <a:ext cx="2633472" cy="2606040"/>
          </a:xfrm>
          <a:prstGeom prst="roundRect">
            <a:avLst>
              <a:gd name="adj" fmla="val 2807"/>
            </a:avLst>
          </a:prstGeom>
          <a:solidFill>
            <a:srgbClr val="0D1028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90672" y="153619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90672" y="181051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$2,499/mo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182112" y="223113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ministry. Unlimited briefs. Diplomat export.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18688" y="2670048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624328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briefs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18688" y="2916936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2871216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 PDF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18688" y="3163824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3118104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SDI compliance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18688" y="3410712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336499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K/L cross-check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18688" y="3657600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4992" y="36118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815584" y="1463040"/>
            <a:ext cx="2633472" cy="2606040"/>
          </a:xfrm>
          <a:prstGeom prst="roundRect">
            <a:avLst>
              <a:gd name="adj" fmla="val 2807"/>
            </a:avLst>
          </a:prstGeom>
          <a:solidFill>
            <a:srgbClr val="0D1028"/>
          </a:solidFill>
          <a:ln w="5080">
            <a:solidFill>
              <a:srgbClr val="7B5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15584" y="153619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Gov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815584" y="181051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$8,999/mo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907024" y="223113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Multi-ministry + multi-country. White-label.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943600" y="2670048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9904" y="2624328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Multi-ministry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943600" y="2916936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9904" y="2871216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943600" y="3163824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89904" y="3118104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OSINT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943600" y="3410712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9904" y="336499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CSM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943600" y="3657600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89904" y="36118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option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65760" y="4187952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121635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26110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 avg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8640" y="45720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ARR/Customer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2231136" y="426110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2231136" y="45720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913632" y="426110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 referral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913632" y="45720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596128" y="426110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40x+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596128" y="45720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278624" y="426110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months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278624" y="45720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877824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182880"/>
            <a:ext cx="768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one ministry. Expand cross-K/L.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replicate across ASEAN.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2633472" cy="2176272"/>
          </a:xfrm>
          <a:prstGeom prst="roundRect">
            <a:avLst>
              <a:gd name="adj" fmla="val 3361"/>
            </a:avLst>
          </a:prstGeom>
          <a:solidFill>
            <a:srgbClr val="0D1028"/>
          </a:solidFill>
          <a:ln w="762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89888"/>
            <a:ext cx="2633472" cy="347472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081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Q4 2025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59105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&amp; Expand Indonesia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" y="194767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19019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10 ministries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30352" y="222199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217627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Bappenas-led endorsement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0352" y="249631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45059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SDI mandate drives adoption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30352" y="277063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72491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$1.2M ARR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108960" y="1389888"/>
            <a:ext cx="2633472" cy="2176272"/>
          </a:xfrm>
          <a:prstGeom prst="roundRect">
            <a:avLst>
              <a:gd name="adj" fmla="val 3361"/>
            </a:avLst>
          </a:prstGeom>
          <a:solidFill>
            <a:srgbClr val="0D1028"/>
          </a:solidFill>
          <a:ln w="7620">
            <a:solidFill>
              <a:srgbClr val="7B5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1389888"/>
            <a:ext cx="2633472" cy="347472"/>
          </a:xfrm>
          <a:prstGeom prst="rect">
            <a:avLst/>
          </a:prstGeom>
          <a:solidFill>
            <a:srgbClr val="7B5FFF">
              <a:alpha val="18000"/>
            </a:srgbClr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14081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→ Q4 2026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200400" y="159105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Tier-1 Markets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73552" y="1947672"/>
            <a:ext cx="91440" cy="91440"/>
          </a:xfrm>
          <a:prstGeom prst="ellipse">
            <a:avLst/>
          </a:prstGeom>
          <a:solidFill>
            <a:srgbClr val="7B5FFF"/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19019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Malaysia, Singapore, Philippines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73552" y="2221992"/>
            <a:ext cx="91440" cy="91440"/>
          </a:xfrm>
          <a:prstGeom prst="ellipse">
            <a:avLst/>
          </a:prstGeom>
          <a:solidFill>
            <a:srgbClr val="7B5FFF"/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9856" y="217627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Secretariat partnership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73552" y="2496312"/>
            <a:ext cx="91440" cy="91440"/>
          </a:xfrm>
          <a:prstGeom prst="ellipse">
            <a:avLst/>
          </a:prstGeom>
          <a:solidFill>
            <a:srgbClr val="7B5FFF"/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9856" y="245059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RDTII as entry wedge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73552" y="2770632"/>
            <a:ext cx="91440" cy="91440"/>
          </a:xfrm>
          <a:prstGeom prst="ellipse">
            <a:avLst/>
          </a:prstGeom>
          <a:solidFill>
            <a:srgbClr val="7B5FFF"/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9856" y="272491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$4.5M ARR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52160" y="1389888"/>
            <a:ext cx="2633472" cy="2176272"/>
          </a:xfrm>
          <a:prstGeom prst="roundRect">
            <a:avLst>
              <a:gd name="adj" fmla="val 3361"/>
            </a:avLst>
          </a:prstGeom>
          <a:solidFill>
            <a:srgbClr val="0D1028"/>
          </a:solidFill>
          <a:ln w="7620">
            <a:solidFill>
              <a:srgbClr val="00E5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1389888"/>
            <a:ext cx="2633472" cy="347472"/>
          </a:xfrm>
          <a:prstGeom prst="rect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14081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943600" y="159105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Data Layer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16752" y="1947672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190195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for 5 ASEAN govs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016752" y="2221992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63056" y="217627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ASEAN intel graph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016752" y="2496312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63056" y="245059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licensing to think-tanks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16752" y="2770632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63056" y="272491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$15M+ ARR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65760" y="36758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CHANNELS: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645920" y="3657600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121635"/>
          </a:solidFill>
          <a:ln w="5080">
            <a:solidFill>
              <a:srgbClr val="00E5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19072" y="36758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Bappenas Endorsement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127248" y="3657600"/>
            <a:ext cx="1133856" cy="219456"/>
          </a:xfrm>
          <a:prstGeom prst="roundRect">
            <a:avLst>
              <a:gd name="adj" fmla="val 25000"/>
            </a:avLst>
          </a:prstGeom>
          <a:solidFill>
            <a:srgbClr val="121635"/>
          </a:solidFill>
          <a:ln w="5080">
            <a:solidFill>
              <a:srgbClr val="00E5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0" y="3675888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/ ADB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370832" y="3657600"/>
            <a:ext cx="1193292" cy="219456"/>
          </a:xfrm>
          <a:prstGeom prst="roundRect">
            <a:avLst>
              <a:gd name="adj" fmla="val 25000"/>
            </a:avLst>
          </a:prstGeom>
          <a:solidFill>
            <a:srgbClr val="121635"/>
          </a:solidFill>
          <a:ln w="5080">
            <a:solidFill>
              <a:srgbClr val="00E5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3984" y="3675888"/>
            <a:ext cx="1101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Secretariat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673852" y="3657600"/>
            <a:ext cx="1252728" cy="219456"/>
          </a:xfrm>
          <a:prstGeom prst="roundRect">
            <a:avLst>
              <a:gd name="adj" fmla="val 25000"/>
            </a:avLst>
          </a:prstGeom>
          <a:solidFill>
            <a:srgbClr val="121635"/>
          </a:solidFill>
          <a:ln w="5080">
            <a:solidFill>
              <a:srgbClr val="00E5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47004" y="3675888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Bellingcat Network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036308" y="3657600"/>
            <a:ext cx="1312164" cy="219456"/>
          </a:xfrm>
          <a:prstGeom prst="roundRect">
            <a:avLst>
              <a:gd name="adj" fmla="val 25000"/>
            </a:avLst>
          </a:prstGeom>
          <a:solidFill>
            <a:srgbClr val="121635"/>
          </a:solidFill>
          <a:ln w="5080">
            <a:solidFill>
              <a:srgbClr val="00E5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09460" y="3675888"/>
            <a:ext cx="12207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Gov Outreach</a:t>
            </a:r>
            <a:endParaRPr lang="en-US" sz="750" dirty="0"/>
          </a:p>
        </p:txBody>
      </p:sp>
      <p:graphicFrame>
        <p:nvGraphicFramePr>
          <p:cNvPr id="54" name="Chart 0" descr=""/>
          <p:cNvGraphicFramePr/>
          <p:nvPr/>
        </p:nvGraphicFramePr>
        <p:xfrm>
          <a:off x="347472" y="3950208"/>
          <a:ext cx="3200400" cy="1005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5" name="Text 52"/>
          <p:cNvSpPr/>
          <p:nvPr/>
        </p:nvSpPr>
        <p:spPr>
          <a:xfrm>
            <a:off x="3657600" y="40050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$2.5M SEED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3657600" y="4242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4133088" y="4261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AI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3657600" y="44622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4133088" y="4480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Expansion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3657600" y="46817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4133088" y="47000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Relations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365760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4133088" y="49194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&amp; Legal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3657600" cy="3657600"/>
          </a:xfrm>
          <a:prstGeom prst="ellipse">
            <a:avLst/>
          </a:prstGeom>
          <a:solidFill>
            <a:srgbClr val="00D4FF">
              <a:alpha val="4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2743200"/>
            <a:ext cx="1828800" cy="1828800"/>
          </a:xfrm>
          <a:prstGeom prst="ellipse">
            <a:avLst/>
          </a:prstGeom>
          <a:solidFill>
            <a:srgbClr val="7B5FFF">
              <a:alpha val="5000"/>
            </a:srgbClr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4592"/>
            <a:ext cx="580644" cy="173736"/>
          </a:xfrm>
          <a:prstGeom prst="roundRect">
            <a:avLst>
              <a:gd name="adj" fmla="val 26316"/>
            </a:avLst>
          </a:prstGeom>
          <a:solidFill>
            <a:srgbClr val="1A2248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82880"/>
            <a:ext cx="4709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38404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$2.5M Seed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dominate ASEAN policy intelligence.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444752"/>
            <a:ext cx="1627632" cy="713232"/>
          </a:xfrm>
          <a:prstGeom prst="roundRect">
            <a:avLst>
              <a:gd name="adj" fmla="val 8974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9961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066544" y="1444752"/>
            <a:ext cx="1627632" cy="713232"/>
          </a:xfrm>
          <a:prstGeom prst="roundRect">
            <a:avLst>
              <a:gd name="adj" fmla="val 8974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66544" y="149961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66544" y="192024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767328" y="1444752"/>
            <a:ext cx="1627632" cy="713232"/>
          </a:xfrm>
          <a:prstGeom prst="roundRect">
            <a:avLst>
              <a:gd name="adj" fmla="val 8974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49961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67328" y="192024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468112" y="1444752"/>
            <a:ext cx="1627632" cy="713232"/>
          </a:xfrm>
          <a:prstGeom prst="roundRect">
            <a:avLst>
              <a:gd name="adj" fmla="val 8974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149961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68112" y="192024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Cap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168896" y="1444752"/>
            <a:ext cx="1627632" cy="713232"/>
          </a:xfrm>
          <a:prstGeom prst="roundRect">
            <a:avLst>
              <a:gd name="adj" fmla="val 8974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68896" y="149961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68896" y="192024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Target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5760" y="22677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$2.5M unlocks: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578608"/>
            <a:ext cx="8412480" cy="438912"/>
          </a:xfrm>
          <a:prstGeom prst="roundRect">
            <a:avLst>
              <a:gd name="adj" fmla="val 12500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578608"/>
            <a:ext cx="36576" cy="43891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2615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10 Ministry contracts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" y="28163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Bappenas endorsement → cross-K/L expansion. $1.2M ARR locked.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65760" y="3090672"/>
            <a:ext cx="8412480" cy="438912"/>
          </a:xfrm>
          <a:prstGeom prst="roundRect">
            <a:avLst>
              <a:gd name="adj" fmla="val 12500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90672"/>
            <a:ext cx="36576" cy="438912"/>
          </a:xfrm>
          <a:prstGeom prst="rect">
            <a:avLst/>
          </a:prstGeom>
          <a:solidFill>
            <a:srgbClr val="7B5FFF"/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31272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 + Singapore launch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2064" y="332841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RDTII compliance module live. ASEAN Secretariat partnership signed.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65760" y="3602736"/>
            <a:ext cx="8412480" cy="438912"/>
          </a:xfrm>
          <a:prstGeom prst="roundRect">
            <a:avLst>
              <a:gd name="adj" fmla="val 12500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602736"/>
            <a:ext cx="36576" cy="43891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6393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AI model training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2064" y="38404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ASEAN policy LLM on 5 years of RPJMN/RDTII corpus.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65760" y="4114800"/>
            <a:ext cx="8412480" cy="438912"/>
          </a:xfrm>
          <a:prstGeom prst="roundRect">
            <a:avLst>
              <a:gd name="adj" fmla="val 12500"/>
            </a:avLst>
          </a:prstGeom>
          <a:solidFill>
            <a:srgbClr val="0D1028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114800"/>
            <a:ext cx="36576" cy="438912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" y="41513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ready — 18 months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2064" y="435254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$8M ARR run-rate. 25+ gov clients. 3 ASEAN countries live.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65760" y="4700016"/>
            <a:ext cx="8412480" cy="310896"/>
          </a:xfrm>
          <a:prstGeom prst="roundRect">
            <a:avLst>
              <a:gd name="adj" fmla="val 14706"/>
            </a:avLst>
          </a:prstGeom>
          <a:solidFill>
            <a:srgbClr val="121635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paparan.ai  ·  hello@paparan.ai  ·  ASEAN Policy Intelligence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457200"/>
            <a:ext cx="6400800" cy="4114800"/>
          </a:xfrm>
          <a:prstGeom prst="ellipse">
            <a:avLst/>
          </a:prstGeom>
          <a:solidFill>
            <a:srgbClr val="00D4FF">
              <a:alpha val="4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2743200"/>
            <a:ext cx="2286000" cy="2286000"/>
          </a:xfrm>
          <a:prstGeom prst="ellipse">
            <a:avLst/>
          </a:prstGeom>
          <a:solidFill>
            <a:srgbClr val="7B5FFF">
              <a:alpha val="5000"/>
            </a:srgbClr>
          </a:solidFill>
          <a:ln w="12700">
            <a:solidFill>
              <a:srgbClr val="7B5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0E5A0">
              <a:alpha val="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371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dirty="0">
                <a:solidFill>
                  <a:srgbClr val="1A2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 where every ASEAN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policymaker acts on complete intelligence,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on noise.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Paparan.ai — The intelligence layer for ASEAN governance.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640080" cy="640080"/>
          </a:xfrm>
          <a:prstGeom prst="ellipse">
            <a:avLst/>
          </a:prstGeom>
          <a:solidFill>
            <a:srgbClr val="121635"/>
          </a:solidFill>
          <a:ln w="254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" y="3520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1353312" y="2871216"/>
            <a:ext cx="640080" cy="640080"/>
          </a:xfrm>
          <a:prstGeom prst="ellipse">
            <a:avLst/>
          </a:prstGeom>
          <a:solidFill>
            <a:srgbClr val="121635"/>
          </a:solidFill>
          <a:ln w="254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🇲🇾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35024" y="3520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</a:t>
            </a:r>
            <a:endParaRPr lang="en-US" sz="550" dirty="0"/>
          </a:p>
        </p:txBody>
      </p:sp>
      <p:sp>
        <p:nvSpPr>
          <p:cNvPr id="18" name="Shape 16"/>
          <p:cNvSpPr/>
          <p:nvPr/>
        </p:nvSpPr>
        <p:spPr>
          <a:xfrm>
            <a:off x="2157984" y="2871216"/>
            <a:ext cx="640080" cy="640080"/>
          </a:xfrm>
          <a:prstGeom prst="ellipse">
            <a:avLst/>
          </a:prstGeom>
          <a:solidFill>
            <a:srgbClr val="121635"/>
          </a:solidFill>
          <a:ln w="254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7984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39696" y="3520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2962656" y="2871216"/>
            <a:ext cx="640080" cy="640080"/>
          </a:xfrm>
          <a:prstGeom prst="ellipse">
            <a:avLst/>
          </a:prstGeom>
          <a:solidFill>
            <a:srgbClr val="121635"/>
          </a:solidFill>
          <a:ln w="254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62656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🇵🇭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944368" y="3520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3767328" y="2871216"/>
            <a:ext cx="640080" cy="640080"/>
          </a:xfrm>
          <a:prstGeom prst="ellipse">
            <a:avLst/>
          </a:prstGeom>
          <a:solidFill>
            <a:srgbClr val="121635"/>
          </a:solidFill>
          <a:ln w="254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7328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🇻🇳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49040" y="3520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4572000" y="2871216"/>
            <a:ext cx="640080" cy="640080"/>
          </a:xfrm>
          <a:prstGeom prst="ellipse">
            <a:avLst/>
          </a:prstGeom>
          <a:solidFill>
            <a:srgbClr val="121635"/>
          </a:solidFill>
          <a:ln w="254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🇹🇭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53712" y="3520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5376672" y="2871216"/>
            <a:ext cx="640080" cy="640080"/>
          </a:xfrm>
          <a:prstGeom prst="ellipse">
            <a:avLst/>
          </a:prstGeom>
          <a:solidFill>
            <a:srgbClr val="121635"/>
          </a:solidFill>
          <a:ln w="254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76672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🇧🇳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58384" y="3520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6181344" y="2871216"/>
            <a:ext cx="640080" cy="640080"/>
          </a:xfrm>
          <a:prstGeom prst="ellipse">
            <a:avLst/>
          </a:prstGeom>
          <a:solidFill>
            <a:srgbClr val="121635"/>
          </a:solidFill>
          <a:ln w="254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🇰🇭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163056" y="3520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6986016" y="2871216"/>
            <a:ext cx="640080" cy="640080"/>
          </a:xfrm>
          <a:prstGeom prst="ellipse">
            <a:avLst/>
          </a:prstGeom>
          <a:solidFill>
            <a:srgbClr val="121635"/>
          </a:solidFill>
          <a:ln w="254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86016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🇱🇦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67728" y="3520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LAOS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7790688" y="2871216"/>
            <a:ext cx="640080" cy="640080"/>
          </a:xfrm>
          <a:prstGeom prst="ellipse">
            <a:avLst/>
          </a:prstGeom>
          <a:solidFill>
            <a:srgbClr val="121635"/>
          </a:solidFill>
          <a:ln w="254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90688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🇲🇲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772400" y="35204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MYAN</a:t>
            </a:r>
            <a:endParaRPr lang="en-US" sz="550" dirty="0"/>
          </a:p>
        </p:txBody>
      </p:sp>
      <p:sp>
        <p:nvSpPr>
          <p:cNvPr id="42" name="Shape 40"/>
          <p:cNvSpPr/>
          <p:nvPr/>
        </p:nvSpPr>
        <p:spPr>
          <a:xfrm>
            <a:off x="365760" y="4718304"/>
            <a:ext cx="8412480" cy="292608"/>
          </a:xfrm>
          <a:prstGeom prst="roundRect">
            <a:avLst>
              <a:gd name="adj" fmla="val 15625"/>
            </a:avLst>
          </a:prstGeom>
          <a:solidFill>
            <a:srgbClr val="121635"/>
          </a:solidFill>
          <a:ln w="12700">
            <a:solidFill>
              <a:srgbClr val="1A22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paparan.ai  ·  hello@paparan.ai  ·  Seed Round 2025  ·  $2.5M  ·  $15M Cap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Paparan.ai — Seed Pitch Deck 2025</dc:title>
  <dc:subject>PptxGenJS Presentation</dc:subject>
  <dc:creator>Paparan.ai</dc:creator>
  <cp:lastModifiedBy>Paparan.ai</cp:lastModifiedBy>
  <cp:revision>1</cp:revision>
  <dcterms:created xsi:type="dcterms:W3CDTF">2026-04-29T09:41:25Z</dcterms:created>
  <dcterms:modified xsi:type="dcterms:W3CDTF">2026-04-29T09:41:25Z</dcterms:modified>
</cp:coreProperties>
</file>